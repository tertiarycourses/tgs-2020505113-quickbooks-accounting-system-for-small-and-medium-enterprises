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SGD</c:v>
                </c:pt>
              </c:strCache>
            </c:strRef>
          </c:tx>
          <c:spPr>
            <a:solidFill>
              <a:srgbClr val="10B981"/>
            </a:solidFill>
          </c:spPr>
          <c:cat>
            <c:strRef>
              <c:f>Sheet1!$A$2:$A$5</c:f>
              <c:strCache>
                <c:ptCount val="4"/>
                <c:pt idx="0">
                  <c:v>Revenue</c:v>
                </c:pt>
                <c:pt idx="1">
                  <c:v>Gross profit</c:v>
                </c:pt>
                <c:pt idx="2">
                  <c:v>Operating exp.</c:v>
                </c:pt>
                <c:pt idx="3">
                  <c:v>Net profit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180000</c:v>
                </c:pt>
                <c:pt idx="1">
                  <c:v>72000</c:v>
                </c:pt>
                <c:pt idx="2">
                  <c:v>51000</c:v>
                </c:pt>
                <c:pt idx="3">
                  <c:v>21000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numFmt formatCode="$#,##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Receivables (SGD)</c:v>
                </c:pt>
              </c:strCache>
            </c:strRef>
          </c:tx>
          <c:spPr>
            <a:solidFill>
              <a:srgbClr val="F59E0B"/>
            </a:solidFill>
          </c:spPr>
          <c:cat>
            <c:strRef>
              <c:f>Sheet1!$A$2:$A$6</c:f>
              <c:strCache>
                <c:ptCount val="5"/>
                <c:pt idx="0">
                  <c:v>Current</c:v>
                </c:pt>
                <c:pt idx="1">
                  <c:v>1–30</c:v>
                </c:pt>
                <c:pt idx="2">
                  <c:v>31–60</c:v>
                </c:pt>
                <c:pt idx="3">
                  <c:v>61–90</c:v>
                </c:pt>
                <c:pt idx="4">
                  <c:v>90+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48000</c:v>
                </c:pt>
                <c:pt idx="1">
                  <c:v>26000</c:v>
                </c:pt>
                <c:pt idx="2">
                  <c:v>14500</c:v>
                </c:pt>
                <c:pt idx="3">
                  <c:v>7800</c:v>
                </c:pt>
                <c:pt idx="4">
                  <c:v>4200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$#,##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0505113-Quickbooks-Accounting-System-for-Small-and-Medium-Enterprises" TargetMode="External"/><Relationship Id="rId3" Type="http://schemas.openxmlformats.org/officeDocument/2006/relationships/hyperlink" Target="https://lms-tms.tertiaryinfotech.com/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tertiarycourses.com.sg/wsq-quickbooks-accounting-system-for-small-and-medium-enterprises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-hero-v15.png"/>
          <p:cNvPicPr>
            <a:picLocks noChangeAspect="1"/>
          </p:cNvPicPr>
          <p:nvPr/>
        </p:nvPicPr>
        <p:blipFill>
          <a:blip r:embed="rId2"/>
          <a:srcRect l="25113" r="25113"/>
          <a:stretch>
            <a:fillRect/>
          </a:stretch>
        </p:blipFill>
        <p:spPr>
          <a:xfrm>
            <a:off x="6126480" y="0"/>
            <a:ext cx="606521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053328" y="0"/>
            <a:ext cx="25603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93776"/>
            <a:ext cx="658368" cy="6583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1389888"/>
            <a:ext cx="5138928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WSQ COURSE SLIDES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64792"/>
            <a:ext cx="5257800" cy="20116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Quickbooks Accounting System for Small and Medium Enterprises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" y="3858768"/>
            <a:ext cx="1645920" cy="502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4096512"/>
            <a:ext cx="5257800" cy="4206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Course Code: TGS-2020505113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544568"/>
            <a:ext cx="525780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Tertiary Infotech Academy Pte Ltd · UEN 201200696W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Trainer: Dr Alfred Ang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806440"/>
            <a:ext cx="5257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Version v15 · 15 August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208776"/>
            <a:ext cx="52578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Concept visual · all course text remains editable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TRAQOM ·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Take AM digital attendance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Take PM digital attendance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Take Assessment digital attendance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Scan the SSG/TRAQOM QR shown by the trainer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GENERAL TRAINER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3383280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00200" y="2240280"/>
            <a:ext cx="1600200" cy="160020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2240280"/>
            <a:ext cx="1600200" cy="1600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160520"/>
            <a:ext cx="2907792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General Trainer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736592"/>
            <a:ext cx="2907792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Complete before delivery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7408" y="1737360"/>
            <a:ext cx="690372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1783080"/>
            <a:ext cx="19202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783080"/>
            <a:ext cx="4535424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07408" y="2441448"/>
            <a:ext cx="690372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5152" y="2487168"/>
            <a:ext cx="19202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10B981"/>
                </a:solidFill>
                <a:latin typeface="Arial"/>
              </a:rPr>
              <a:t>TITLE / DESIGNATION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487168"/>
            <a:ext cx="4535424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07408" y="3145536"/>
            <a:ext cx="690372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5152" y="3191256"/>
            <a:ext cx="19202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7C3AED"/>
                </a:solidFill>
                <a:latin typeface="Arial"/>
              </a:rPr>
              <a:t>QUALIFICATIONS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191256"/>
            <a:ext cx="4535424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408" y="3849624"/>
            <a:ext cx="690372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45152" y="3895344"/>
            <a:ext cx="19202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F59E0B"/>
                </a:solidFill>
                <a:latin typeface="Arial"/>
              </a:rPr>
              <a:t>AREAS OF EXPERTISE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895344"/>
            <a:ext cx="4535424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07408" y="4553712"/>
            <a:ext cx="690372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5152" y="4599432"/>
            <a:ext cx="19202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599432"/>
            <a:ext cx="4535424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07408" y="5257800"/>
            <a:ext cx="690372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45152" y="5303520"/>
            <a:ext cx="19202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10B981"/>
                </a:solidFill>
                <a:latin typeface="Arial"/>
              </a:rPr>
              <a:t>CONTACT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303520"/>
            <a:ext cx="4535424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________________________________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NAMED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3383280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00200" y="2240280"/>
            <a:ext cx="1600200" cy="1600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2240280"/>
            <a:ext cx="1600200" cy="1600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160520"/>
            <a:ext cx="2907792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736592"/>
            <a:ext cx="2907792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Principal Trainer · Tertiary Infotech Academy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7408" y="1737360"/>
            <a:ext cx="690372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1783080"/>
            <a:ext cx="19202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783080"/>
            <a:ext cx="4535424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07408" y="2441448"/>
            <a:ext cx="690372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5152" y="2487168"/>
            <a:ext cx="19202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10B981"/>
                </a:solidFill>
                <a:latin typeface="Arial"/>
              </a:rPr>
              <a:t>TITLE / DESIGNATION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487168"/>
            <a:ext cx="4535424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Principal Trainer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07408" y="3145536"/>
            <a:ext cx="690372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5152" y="3191256"/>
            <a:ext cx="19202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7C3AED"/>
                </a:solidFill>
                <a:latin typeface="Arial"/>
              </a:rPr>
              <a:t>QUALIFICATIONS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191256"/>
            <a:ext cx="4535424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Adult educator and technology practitioner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408" y="3849624"/>
            <a:ext cx="690372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45152" y="3895344"/>
            <a:ext cx="19202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F59E0B"/>
                </a:solidFill>
                <a:latin typeface="Arial"/>
              </a:rPr>
              <a:t>AREAS OF EXPERTISE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895344"/>
            <a:ext cx="4535424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Digital productivity, accounting systems and business technology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07408" y="4553712"/>
            <a:ext cx="690372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5152" y="4599432"/>
            <a:ext cx="19202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599432"/>
            <a:ext cx="4535424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WSQ and professional technology programmes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07408" y="5257800"/>
            <a:ext cx="690372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45152" y="5303520"/>
            <a:ext cx="19202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10B981"/>
                </a:solidFill>
                <a:latin typeface="Arial"/>
              </a:rPr>
              <a:t>CONTACT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303520"/>
            <a:ext cx="4535424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enquiry@tertiaryinfotech.com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LEARNER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Name and role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SME or industry context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Accounting-system experience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One outcome you want today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LEARNING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Participate and ask questions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Respect different experience levels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Keep phones silent and data confidential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Return from breaks on 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ONE CONNECTED SME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Orchid Bay Trading Learning Journey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165201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1005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005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Set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781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29840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29840" y="2057400"/>
            <a:ext cx="165201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26664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26664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39568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Import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4423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6448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6448" y="2057400"/>
            <a:ext cx="165201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43271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3271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6176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Transact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71031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6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3056" y="2057400"/>
            <a:ext cx="1652016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659880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59880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2784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Control GST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87640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79664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79664" y="2057400"/>
            <a:ext cx="165201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76488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76488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9391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4248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96272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796272" y="2057400"/>
            <a:ext cx="165201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9309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9309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05999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Close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FOUR ALIGNED TOPICS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Topic 1: Introduction to QuickBooks Online Plus Accounting 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Topic 2: Input Data to QuickBooks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Topic 3: Manage Goods and Services Tax (GST)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Topic 4: Financial and Accounting Reports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WHAT YOU WILL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LO1: Configure and import relevant data to the QuickBooks accounting system.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LO2: Input and control day-to-day sales, purchasing, banking and inventory data in QuickBooks.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LO3: Compute and review GST for expenses and invoices using appropriate Singapore tax codes.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LO4: Generate and interpret financial, accounting, ageing and GST reports for SME decisions.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ACCOUNTING AND TAX SYSTEMS · ACC-ICT-4001-1.1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Skills Framework Alignment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A1: Retrieve relevant data from other systems in the organisation.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A2: Input data into the accounting system.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A3: Use the system to determine and calculate supplier and vendor GST payables and receivables.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A4: Use the system to generate reports on corporate tax expenditure, assets and liabilities.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9:00 AM–6:00 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One-Day Lesson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165201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1005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005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09:00 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781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29840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29840" y="2057400"/>
            <a:ext cx="165201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26664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26664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39568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Topic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4423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6448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6448" y="2057400"/>
            <a:ext cx="165201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43271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3271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6176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Topic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71031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6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3056" y="2057400"/>
            <a:ext cx="1652016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659880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59880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2784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Topic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87640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79664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79664" y="2057400"/>
            <a:ext cx="165201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76488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76488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9391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Topic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4248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96272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796272" y="2057400"/>
            <a:ext cx="165201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9309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9309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05999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Assessment to 18:00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BEFORE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Individual assessment; no discussion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Open book: course materials only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Phones and other materials under the table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Use own words; follow appeal and reassessment process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ASSESSMENT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and Funding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WA (SAQ): 60 minutes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Oral Questioning: current paper 25 minutes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Competent requires all criteria met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At least 75% attendance and assessment completion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MANDATORY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171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171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TRAQOM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113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59E0B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9316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93161" y="2057400"/>
            <a:ext cx="201533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7164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7164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288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Assessment attendance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106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59E0B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309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3091" y="2057400"/>
            <a:ext cx="201533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51576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5157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281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WA then OQ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099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59E0B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5302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53020" y="2057400"/>
            <a:ext cx="201533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31505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3150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274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Submit on LMS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4092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59E0B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3295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32950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11435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1143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4267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Sign summary record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DOWNLOAD FROM GITHUB OR 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Access the Course Activities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28800"/>
            <a:ext cx="5074920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148840"/>
            <a:ext cx="44805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OPTION A · CLONE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788920"/>
            <a:ext cx="4480560" cy="1143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git clone https://github.com/tertiarycourses/TGS-2020505113-Quickbooks-Accounting-System-for-Small-and-Medium-Enterprises.git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4224528"/>
            <a:ext cx="448056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  <a:hlinkClick r:id="rId2"/>
              </a:rPr>
              <a:t>Open the course repository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828800"/>
            <a:ext cx="5074920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148840"/>
            <a:ext cx="44805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OPTION B · DOWNLOAD ZIP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2788920"/>
            <a:ext cx="4480560" cy="1143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GitHub → Code → Download ZIP
Then open the activities/ folder.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4224528"/>
            <a:ext cx="448056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  <a:hlinkClick r:id="rId3"/>
              </a:rPr>
              <a:t>Open courseware on the LMS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84831"/>
            <a:ext cx="109728" cy="2148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93392"/>
            <a:ext cx="96926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1 · A1 ·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9966960" cy="11887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Introduction to QuickBooks Online Plus Accounting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86200"/>
            <a:ext cx="96926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Cloud accounting · company setup · master data ·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502920"/>
            <a:ext cx="1554480" cy="10058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Accounting-system choices and the role of cloud accounting in an SME control environment.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Company settings, financial year, GST profile, home currency and user-access design.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 governed migration sequence for chart of accounts, customers, suppliers and products/services.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Opening-balance controls: cut-off, completeness, mapping, reconciliation and sign-off.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From source document to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256032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64207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64207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Capture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38144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38144" y="2057400"/>
            <a:ext cx="25603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89120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Classify consistently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71031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2057400"/>
            <a:ext cx="256032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14032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14032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4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Post to ledgers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95944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87967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7" y="2057400"/>
            <a:ext cx="256032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38944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38944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97695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Review and decide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Accounting systems an SME may encounter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Manual records — low cost, weak control at scale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Desktop accounting — local control, limited collaboration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Cloud accounting — shared, current records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ERP — integrated processes across functions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QuickBooks Online manages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Sales and receivables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Purchases and payables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Banking and reconciliation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Inventory, GST and reporting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Cloud accounting control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256032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64207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64207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Authorised 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38144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38144" y="2057400"/>
            <a:ext cx="25603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89120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Structured transactions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71031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2057400"/>
            <a:ext cx="256032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14032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14032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4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Automated ledger updates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95944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87967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7" y="2057400"/>
            <a:ext cx="256032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38944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38944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97695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Reviewable reports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QuickBooks ecosystem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Core ledger and subledgers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Bank connections and imports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App integrations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Accountant collaboration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Select a plan by requirements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Transaction volume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Number and roles of users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Inventory and purchase orders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Reporting and automation needs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Company setup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Legal and customer-facing identity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Financial year and accounting method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GST registration details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Home currency and multi-currency decision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Multi-currency is a governance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Confirm business need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Set the correct home currency first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Understand exchange-rate effects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Document irreversible or plan-specific settings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User roles and segregation of duties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Primary administrator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Company administrator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Standard user with scoped access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Reports-only/accountant access where available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Chart of Accounts is the reporting spine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Account type drives report placement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Detail type supports classification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Code and name support consistency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Inactive accounts preserve history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Design a usable account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Stable coding convention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Right level of detail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Avoid duplicate meaning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Map legacy accounts before import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Master-data quality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165201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1005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005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Clean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781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29840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29840" y="2057400"/>
            <a:ext cx="165201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26664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26664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39568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Standardise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4423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6448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6448" y="2057400"/>
            <a:ext cx="165201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43271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3271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6176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71031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6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3056" y="2057400"/>
            <a:ext cx="1652016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659880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59880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2784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Validate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87640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79664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79664" y="2057400"/>
            <a:ext cx="165201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76488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76488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9391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Import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4248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96272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796272" y="2057400"/>
            <a:ext cx="165201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9309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9309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05999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Reconcile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Customer and supplier records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Unique display name and contact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Terms and opening balance cut-off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GST and currency attributes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Duplicate prevention and ownership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Products and services records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Inventory item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Non-inventory item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Service item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Bundle/category where available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Inventory item accounting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256032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64207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64207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Purchase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38144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38144" y="2057400"/>
            <a:ext cx="25603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89120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Inventory 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71031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2057400"/>
            <a:ext cx="256032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14032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14032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4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Sale revenue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95944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87967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7" y="2057400"/>
            <a:ext cx="256032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38944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38944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97695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Cost of goods sold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Opening balances need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Trial balance at cut-off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AR/AP detail matches control totals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Bank statement agrees to cash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Inventory quantity and value are supported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Migration control totals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Record count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Debit/credit totals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Opening balance totals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Exception log and sign-off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Import or enter manually?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Use import for clean repeatable lists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Use manual entry for low volume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Test a small sample first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Retain the source and import result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1 control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1965960"/>
            <a:ext cx="10533888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" y="1965960"/>
            <a:ext cx="109728" cy="2971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404872"/>
            <a:ext cx="9646920" cy="18288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successful setup is not just complete; it is reconciled, access-controlled and explainable.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230368"/>
            <a:ext cx="96469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 evidence · preserve audit trail · escalate uncertainty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ACTIVITY 01 · FOUNDATION · A1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the SME Company and Control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662940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993392"/>
            <a:ext cx="60807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BUSINESS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468880"/>
            <a:ext cx="6080760" cy="8046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Create a controlled QuickBooks company profile for Orchid Bay Trading Pte Ltd.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773936"/>
            <a:ext cx="3675887" cy="1874519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1993392"/>
            <a:ext cx="312724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450592"/>
            <a:ext cx="3127248" cy="8778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Company profile evidence, GST and financial-year settings, user-access matrix and setup sign-off.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4105656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Legal identity and financial year match the scenario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36792" y="4105656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GST profile is documented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4" y="5065776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Home currency decision is approved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36792" y="5065776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2008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Access roles follow least privilege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971032"/>
            <a:ext cx="10515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Detailed procedure and evidence workbook: activities/activity-01-company-setup-and-controls/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ACTIVITY 02 · FOUNDATION · A1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Clean and Import Master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662940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993392"/>
            <a:ext cx="60807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BUSINESS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468880"/>
            <a:ext cx="6080760" cy="8046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Prepare, validate and import the chart of accounts, customers, suppliers and products/services.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773936"/>
            <a:ext cx="3675887" cy="1874519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1993392"/>
            <a:ext cx="312724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450592"/>
            <a:ext cx="3127248" cy="8778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Import-ready CSV files, control totals, import results and exception log.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4105656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All source files pass the quality checks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36792" y="4105656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Counts reconcile before and after import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4" y="5065776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No duplicate display names remain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36792" y="5065776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2008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Account and item mappings are supportable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971032"/>
            <a:ext cx="10515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Detailed procedure and evidence workbook: activities/activity-02-master-data-import/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1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Accounting-system choices and the role of cloud accounting in an SME control environment.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Company settings, financial year, GST profile, home currency and user-access design.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 governed migration sequence for chart of accounts, customers, suppliers and products/services.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Opening-balance controls: cut-off, completeness, mapping, reconciliation and sign-off.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84831"/>
            <a:ext cx="109728" cy="2148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93392"/>
            <a:ext cx="96926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2 · A2 · K2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9966960" cy="11887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Input Data to QuickBooks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86200"/>
            <a:ext cx="96926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Banking · sales · purchases · inventory · recurring transactions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502920"/>
            <a:ext cx="1554480" cy="10058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2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 source-document-to-ledger cycle for bank, sales, purchasing and inventory transactions.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Accounts receivable from estimate through invoice, receipt, credit and overdue follow-up.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Accounts payable from purchase order through bill, payment, supplier credit and recurring expense.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Control points for duplicate prevention, approvals, audit trail, class/location and reconciliation.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Transaction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165201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1005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005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781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29840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29840" y="2057400"/>
            <a:ext cx="165201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26664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26664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39568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Authorise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4423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6448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6448" y="2057400"/>
            <a:ext cx="165201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43271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3271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6176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Record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71031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6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3056" y="2057400"/>
            <a:ext cx="1652016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659880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59880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2784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Settle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87640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79664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79664" y="2057400"/>
            <a:ext cx="165201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76488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76488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9391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Reconcile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4248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96272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796272" y="2057400"/>
            <a:ext cx="165201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9309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9309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05999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Bank feeds and file imports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Connection can reduce rekeying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CSV import supports controlled batches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Downloaded does not mean correctly posted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Review every match, add and exclusion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Banking rule of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1965960"/>
            <a:ext cx="10533888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" y="1965960"/>
            <a:ext cx="109728" cy="2971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404872"/>
            <a:ext cx="9646920" cy="18288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bank feed is a source; the ledger classification and reconciliation are the control.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230368"/>
            <a:ext cx="96469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 evidence · preserve audit trail · escalate uncertainty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Add a bank account correctly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Correct account type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Clear account name and number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Opening date and balance evidence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Owner and reconciliation frequency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Match, add or exclude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Match an existing transaction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Add a genuine new transaction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Exclude non-business or duplicate feed lines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Document exceptions before posting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Deposit, cheque and transfer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Deposit records money received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Cheque/expense records money paid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Transfer moves value between own accounts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Each needs date, account and evidence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Bank reconciliation equation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256032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64207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64207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Statement ending balance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38144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38144" y="2057400"/>
            <a:ext cx="25603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89120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Add deposits in transit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71031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2057400"/>
            <a:ext cx="256032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14032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14032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4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Less outstanding payments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95944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87967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7" y="2057400"/>
            <a:ext cx="256032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38944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38944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97695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Equals ledger balance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Reconciliation differences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Wrong date or amount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Duplicate or missing transaction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Uncleared item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Opening-balance or bank-charge issue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Sales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165201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1005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005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Estimate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781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29840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29840" y="2057400"/>
            <a:ext cx="165201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26664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26664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39568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Customer 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4423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6448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6448" y="2057400"/>
            <a:ext cx="165201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43271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3271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6176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Invoice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71031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6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3056" y="2057400"/>
            <a:ext cx="1652016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659880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59880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2784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Receive payment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87640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79664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79664" y="2057400"/>
            <a:ext cx="165201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76488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76488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9391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Deposit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4248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96272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796272" y="2057400"/>
            <a:ext cx="165201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9309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9309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05999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Follow up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Estimate, invoice or sales receipt?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Estimate — non-posting offer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Invoice — sale on credit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Sales receipt — immediate payment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Credit note — reduces customer balance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Invoice quality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Correct customer and 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Accurate product, quantity and price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Terms and tax code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Unique document number and supporting evidence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Custom form styles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Brand identity and contact details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Readable item and tax information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Consistent payment terms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Preview before use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Receive and apply payment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171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171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Customer identity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113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9316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93161" y="2057400"/>
            <a:ext cx="201533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7164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7164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288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Open invoice match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106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309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3091" y="2057400"/>
            <a:ext cx="201533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51576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5157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281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Payment 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099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5302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53020" y="2057400"/>
            <a:ext cx="201533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31505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3150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274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Deposit destination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4092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3295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32950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11435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1143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4267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Balance validation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overdue invoices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Review ageing buckets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Prioritise material exposures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Document collection action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Escalate disputes and credit risk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Purchasing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165201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1005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005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Purchase 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781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29840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29840" y="2057400"/>
            <a:ext cx="165201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26664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26664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39568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Receive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4423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6448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6448" y="2057400"/>
            <a:ext cx="165201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43271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3271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6176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Supplier bill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71031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6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3056" y="2057400"/>
            <a:ext cx="1652016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659880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59880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2784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Approve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87640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79664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79664" y="2057400"/>
            <a:ext cx="165201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76488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76488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9391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Pay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4248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96272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796272" y="2057400"/>
            <a:ext cx="165201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9309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9309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05999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Reconcile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Expense, bill or cheque?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Expense — paid now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Bill — pay later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Cheque — payment instrument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Purchase order — commitment, not expense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Three-way matching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256032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64207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64207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Purchase 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38144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38144" y="2057400"/>
            <a:ext cx="25603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89120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Goods or service received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71031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2057400"/>
            <a:ext cx="256032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14032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14032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4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Supplier invoice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95944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87967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7" y="2057400"/>
            <a:ext cx="256032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38944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38944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97695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Approved bill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Supplier credits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Record the supplier credit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Apply it to open bills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Preserve original documents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Verify AP control balance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Recurring transactions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Use for predictable repeated entries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Set schedule and end condition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Choose reminder or automatic mode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Review templates periodically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Inventory quantity and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Purchase increases quantity/value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Sale reduces quantity and recognises COGS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Adjustment needs reason and authorisation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Negative stock is a control warning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Class and location tracking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Class answers what activity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Location answers where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Use a stable taxonomy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Review unclassified transactions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Audit log as detective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Who changed what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When the change occurred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Deleted or voided transactions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User patterns requiring review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Internal control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171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171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Prevent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113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9316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93161" y="2057400"/>
            <a:ext cx="201533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7164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7164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288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Detect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106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309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3091" y="2057400"/>
            <a:ext cx="201533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51576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5157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281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Correct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099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5302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53020" y="2057400"/>
            <a:ext cx="201533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31505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3150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274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4092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3295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32950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11435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1143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4267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Monitor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2 control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1965960"/>
            <a:ext cx="10533888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" y="1965960"/>
            <a:ext cx="109728" cy="2971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404872"/>
            <a:ext cx="9646920" cy="18288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Fast data entry is useful only when source evidence, approval and reconciliation remain intact.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230368"/>
            <a:ext cx="96469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 evidence · preserve audit trail · escalate uncertainty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ACTIVITY 03 · INTERMEDIATE · A2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Import Banking Data and Reconcile January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662940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993392"/>
            <a:ext cx="60807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BUSINESS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468880"/>
            <a:ext cx="6080760" cy="8046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Set up bank accounts, import statement lines and reconcile the January statement.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773936"/>
            <a:ext cx="3675887" cy="1874519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1993392"/>
            <a:ext cx="312724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450592"/>
            <a:ext cx="3127248" cy="8778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Imported bank batch, classified transactions, reconciliation report and exception log.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4105656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Imported row count matches the source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36792" y="4105656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Every line is matched, added or excluded with a reason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4" y="5065776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Transfer is recorded once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36792" y="5065776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2008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Reconciliation difference is zero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971032"/>
            <a:ext cx="10515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Detailed procedure and evidence workbook: activities/activity-03-banking-and-reconciliation/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ACTIVITY 04 · INTERMEDIATE · A2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Process the Sales and Receivables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662940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993392"/>
            <a:ext cx="60807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BUSINESS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468880"/>
            <a:ext cx="6080760" cy="8046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Process an estimate, invoice, sales receipt, payment, customer credit and overdue follow-up.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773936"/>
            <a:ext cx="3675887" cy="1874519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1993392"/>
            <a:ext cx="312724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450592"/>
            <a:ext cx="3127248" cy="8778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Complete customer transaction chain, AR ageing evidence and collection action log.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4105656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Estimate-to-invoice chain is intact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36792" y="4105656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Payment and credit are applied correctly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4" y="5065776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GST is consistent with source documents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36792" y="5065776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2008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AR ageing actions are specific and evidenced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971032"/>
            <a:ext cx="10515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Detailed procedure and evidence workbook: activities/activity-04-sales-and-receivables/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ACTIVITY 05 · INTERMEDIATE · A2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Process Purchasing and Payables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662940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993392"/>
            <a:ext cx="60807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BUSINESS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468880"/>
            <a:ext cx="6080760" cy="8046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Process purchase orders, supplier bills, payments, supplier credits and recurring expenses.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773936"/>
            <a:ext cx="3675887" cy="1874519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1993392"/>
            <a:ext cx="312724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450592"/>
            <a:ext cx="3127248" cy="8778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Approved procure-to-pay chain, AP ageing evidence and recurring-template control.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4105656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Three-way match is documented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36792" y="4105656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Bill and payment retain source references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4" y="5065776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Supplier credit is applied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36792" y="5065776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2008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Recurring template has an owner and review 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971032"/>
            <a:ext cx="10515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Detailed procedure and evidence workbook: activities/activity-05-purchasing-and-payables/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ACTIVITY 06 · INTERMEDIATE · A2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Inventory, Classes, Locations and Audit Trail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662940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993392"/>
            <a:ext cx="60807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BUSINESS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468880"/>
            <a:ext cx="6080760" cy="8046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Review inventory movements, classification quality and audit-log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773936"/>
            <a:ext cx="3675887" cy="1874519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1993392"/>
            <a:ext cx="312724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450592"/>
            <a:ext cx="3127248" cy="8778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Inventory roll-forward, unclassified-transaction report and audit-log review.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4105656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Inventory roll-forward reconciles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36792" y="4105656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Unclassified items are resolved or logged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4" y="5065776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Audit samples identify user and change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36792" y="5065776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2008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Corrective actions have owner and due 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971032"/>
            <a:ext cx="10515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Detailed procedure and evidence workbook: activities/activity-06-inventory-classes-audit/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2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 source-document-to-ledger cycle for bank, sales, purchasing and inventory transactions.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Accounts receivable from estimate through invoice, receipt, credit and overdue follow-up.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Accounts payable from purchase order through bill, payment, supplier credit and recurring expense.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Control points for duplicate prevention, approvals, audit trail, class/location and reconciliation.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84831"/>
            <a:ext cx="109728" cy="2148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93392"/>
            <a:ext cx="96926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3 · A3 · K3 · K4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9966960" cy="11887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Manage Goods and Services Tax (GST)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86200"/>
            <a:ext cx="96926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Singapore GST · tax coding · input/output tax · GST F5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502920"/>
            <a:ext cx="1554480" cy="10058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3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GST-registered businesses charge output tax and may claim eligible input tax under IRAS rules.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Use the correct current QuickBooks tax code for standard-rated, zero-rated, exempt and out-of-scope items.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Reconcile GST detail, exception and control accounts before preparing GST F5 figures.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Escalate uncertain treatments; accounting software supports preparation but does not replace tax advice.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GST in the value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256032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64207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64207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Supplier charges input GST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38144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38144" y="2057400"/>
            <a:ext cx="25603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89120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Business records purchase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71031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2057400"/>
            <a:ext cx="256032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14032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14032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4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Business charges output GST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95944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87967" y="2057400"/>
            <a:ext cx="2560320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7" y="2057400"/>
            <a:ext cx="256032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38944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38944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97695" y="3364992"/>
            <a:ext cx="2340863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Net amount settles with IRAS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Current Singapore GST rate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1965960"/>
            <a:ext cx="10533888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" y="1965960"/>
            <a:ext cx="109728" cy="2971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404872"/>
            <a:ext cx="9646920" cy="18288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standard rate is 9% at publication; always verify time-sensitive tax rates and rules with IRAS.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230368"/>
            <a:ext cx="96469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 evidence · preserve audit trail · escalate uncertainty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Taxable and non-taxable treatment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Standard-rated supply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Zero-rated supply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Exempt supply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Out-of-scope transaction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Output tax and input tax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Output tax is collected on taxable sales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Input tax may be claimable on eligible business purchases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Net output above input generally means payable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Net input above output may mean refundable, subject to IRAS rules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GST control formula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171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171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Taxable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113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9316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93161" y="2057400"/>
            <a:ext cx="201533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7164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7164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288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Apply correct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106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309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3091" y="2057400"/>
            <a:ext cx="201533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51576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5157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281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GST amount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099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5302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53020" y="2057400"/>
            <a:ext cx="201533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31505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3150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274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Gross amount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4092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3295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32950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11435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1143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4267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Return box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Tax-inclusive and tax-exclusive amounts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Exclusive: GST = net × rate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Inclusive: GST = gross × rate ÷ (1 + rate)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Rounding policy must be consistent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Source document must support treatment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GST coding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171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171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Identify supply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113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9316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93161" y="2057400"/>
            <a:ext cx="201533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7164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7164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288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Check registration/date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106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309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3091" y="2057400"/>
            <a:ext cx="201533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51576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5157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281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Determine place/type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099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5302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53020" y="2057400"/>
            <a:ext cx="201533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31505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3150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274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Select current code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4092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3295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32950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11435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1143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4267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Review exception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GST on sales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Correct supply category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Valid tax invoice information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Credit note reverses original treatment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Foreign-currency conversion is documented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GST on purchases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Business purpose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Valid supporting document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Claim eligibility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Correct period and tax code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Common GST coding risks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Using standard rate by default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Claiming blocked/private expenses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Mixing exempt and out-of-scope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Back-dated changes after filing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GST control accounts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Output GST collected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Input GST claimable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GST payable/refundable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Reconcile to GST detail and general ledger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GST F5 preparation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165201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1005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005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Lock period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781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29840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29840" y="2057400"/>
            <a:ext cx="165201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26664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26664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39568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Run exception checks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4423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6448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6448" y="2057400"/>
            <a:ext cx="165201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43271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3271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6176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Review GST detail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71031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6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3056" y="2057400"/>
            <a:ext cx="1652016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659880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59880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2784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Reconcile control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87640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79664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79664" y="2057400"/>
            <a:ext cx="165201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76488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76488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9391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Prepare figures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4248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96272" y="2057400"/>
            <a:ext cx="1652016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796272" y="2057400"/>
            <a:ext cx="165201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9309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9309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05999" y="3364992"/>
            <a:ext cx="143256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Approve and file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Exception-report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Transactions without tax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Unusual tax code by account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Negative or duplicate amounts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Changes to prior filed periods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GST reconciliation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171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171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Sales ledger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113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9316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93161" y="2057400"/>
            <a:ext cx="201533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7164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7164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288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Purchase ledger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106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309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3091" y="2057400"/>
            <a:ext cx="201533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51576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5157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281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GST detail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099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5302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53020" y="2057400"/>
            <a:ext cx="201533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31505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3150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274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Control account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4092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3295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32950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11435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1143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4267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GST return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When errors are found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Quantify affected periods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Preserve an audit trail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Correct through an approved method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Consult current IRAS guidance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Corporate tax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Accounting profit is not chargeable income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Current corporate tax rate is 17%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Tax adjustments and reliefs are time-sensitive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Use IRAS guidance or a qualified adviser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Records support compliance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Source documents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Ledger and reconciliations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Approval evidence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Filed return and payment evidence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3 control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1965960"/>
            <a:ext cx="10533888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" y="1965960"/>
            <a:ext cx="109728" cy="2971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404872"/>
            <a:ext cx="9646920" cy="18288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Correct GST reporting begins at transaction coding and ends with an evidenced reconciliation.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230368"/>
            <a:ext cx="96469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 evidence · preserve audit trail · escalate uncertainty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ACTIVITY 07 · INTERMEDIATE · A3 · K3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Code and Validate GST Transactions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662940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993392"/>
            <a:ext cx="60807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BUSINESS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468880"/>
            <a:ext cx="6080760" cy="8046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Apply and validate Singapore GST treatment across a mixed transaction set.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773936"/>
            <a:ext cx="3675887" cy="1874519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1993392"/>
            <a:ext cx="312724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450592"/>
            <a:ext cx="3127248" cy="8778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GST coding register, calculation checks and resolved exception log.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4105656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Every transaction has a supported classification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36792" y="4105656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Formula checks agree to system tax amounts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4" y="5065776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Uncertain items are escalated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36792" y="5065776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2008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Credits mirror original tax treatment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971032"/>
            <a:ext cx="10515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Detailed procedure and evidence workbook: activities/activity-07-gst-coding-control/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ACTIVITY 08 · ADVANCED · A3 · K3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Prepare the GST F5 Review Pack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662940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993392"/>
            <a:ext cx="60807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BUSINESS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468880"/>
            <a:ext cx="6080760" cy="8046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Reconcile GST ledgers and prepare a review pack for the quarterly GST return.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773936"/>
            <a:ext cx="3675887" cy="1874519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1993392"/>
            <a:ext cx="312724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450592"/>
            <a:ext cx="3127248" cy="8778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GST summary/detail reconciliation, exception report and reviewer sign-off pack.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4105656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GST detail agrees to control accounts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36792" y="4105656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F5 control figures are formula-driven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4" y="5065776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Sample evidence is traceable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36792" y="5065776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2008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Preparer and reviewer sign-offs are complete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971032"/>
            <a:ext cx="10515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Detailed procedure and evidence workbook: activities/activity-08-gst-f5-review/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3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GST-registered businesses charge output tax and may claim eligible input tax under IRAS rules.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Use the correct current QuickBooks tax code for standard-rated, zero-rated, exempt and out-of-scope items.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Reconcile GST detail, exception and control accounts before preparing GST F5 figures.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Escalate uncertain treatments; accounting software supports preparation but does not replace tax advice.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84831"/>
            <a:ext cx="109728" cy="2148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93392"/>
            <a:ext cx="96926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4 · A4 · K5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9966960" cy="11887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Financial and Accounting Reports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86200"/>
            <a:ext cx="96926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P&amp;L · balance sheet · cash flow · ageing · GST · custom reports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502920"/>
            <a:ext cx="1554480" cy="10058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4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Profit and Loss explains performance over a period; Balance Sheet explains position at a date.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Cash flow, profit and working capital answer different management questions.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AR/AP ageing turns overdue balances into collection and payment priorities.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Report accuracy depends on reconciled source data, correct basis, period, filters and review evidence.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Reports turn entries into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171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171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Transactions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113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9316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93161" y="2057400"/>
            <a:ext cx="201533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7164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7164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288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Ledgers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106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309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3091" y="2057400"/>
            <a:ext cx="201533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51576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5157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281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Reconciliations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099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5302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53020" y="2057400"/>
            <a:ext cx="201533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31505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3150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274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Reports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4092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3295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32950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11435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1143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4267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Management action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Profit and Loss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171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171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Revenue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113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9316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93161" y="2057400"/>
            <a:ext cx="201533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7164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7164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288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Less cost of sales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106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309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3091" y="2057400"/>
            <a:ext cx="201533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51576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5157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281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Gross profit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099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5302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53020" y="2057400"/>
            <a:ext cx="201533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31505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3150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274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Less operating expenses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4092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3295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32950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11435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1143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4267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Net profit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P&amp;L review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Which revenue streams changed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What drove gross margin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Which expenses are unusual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Are period and accounting basis correct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Balance Sheet equation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1965960"/>
            <a:ext cx="10533888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" y="1965960"/>
            <a:ext cx="109728" cy="2971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404872"/>
            <a:ext cx="9646920" cy="18288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Assets = Liabilities + Owners' Equity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230368"/>
            <a:ext cx="96469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 evidence · preserve audit trail · escalate uncertainty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Balance Sheet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Current and non-current assets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Current and non-current liabilities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Equity and retained earnings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Control accounts requiring reconciliation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Balance Sheet limitations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Snapshot at one 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Book value may differ from market value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Unrecorded intangibles may matter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Classification quality affects interpretation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P&amp;L versus Balance Sheet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P&amp;L covers a period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Balance Sheet is at a date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Profit changes retained earnings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Cash is not the same as profit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Cash flow versus profit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Profit uses accrual accounting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Cash flow tracks cash movements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Credit sales can raise profit before cash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Asset purchases use cash but are not immediately expensed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AR ageing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Current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1–30 days overdue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31–60 days overdue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61+ days overdue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Use ageing to manage credit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171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171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Validate balances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113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9316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93161" y="2057400"/>
            <a:ext cx="201533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7164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7164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288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Segment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106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309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3091" y="2057400"/>
            <a:ext cx="201533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51576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5157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281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Prioritise contact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099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5302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53020" y="2057400"/>
            <a:ext cx="201533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31505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3150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274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Record action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4092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3295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32950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11435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1143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4267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Escalate dispute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 ageing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Protect supplier terms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Avoid duplicate payment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Plan cash requirements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Resolve disputed bills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GST reports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GST summary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GST detail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Exception report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Return preparation view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Report parameters matter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Date range and as-of 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Cash or accrual basis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Classes, locations and filters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Comparison period and rounding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Custom reports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171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171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Define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113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9316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93161" y="2057400"/>
            <a:ext cx="201533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7164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7164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288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Choose base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106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309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3091" y="2057400"/>
            <a:ext cx="201533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51576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5157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281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Set filters/columns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099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5302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53020" y="2057400"/>
            <a:ext cx="201533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31505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3150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274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Validate totals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4092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3295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32950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11435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1143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4267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Save and schedule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Scheduled reports need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Review recipient access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Use an approved cadence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Protect confidential attachments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Revalidate after chart/config changes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Report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171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171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Reconcile 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113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9316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93161" y="2057400"/>
            <a:ext cx="201533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7164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7164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288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Check parameters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106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309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3091" y="2057400"/>
            <a:ext cx="201533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51576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5157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281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Scan anomalies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099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5302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53020" y="2057400"/>
            <a:ext cx="201533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31505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3150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274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Trace a sample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4092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3295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32950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11435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1143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4267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Document reviewer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SME management pack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P&amp;L with prior-period comparison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Balance Sheet with key reconciliations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AR/AP ageing and cash priorities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GST position and exception log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4 control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1965960"/>
            <a:ext cx="10533888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" y="1965960"/>
            <a:ext cx="109728" cy="2971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404872"/>
            <a:ext cx="9646920" cy="18288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report is decision-ready only when its source data, parameters and review are evidenced.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230368"/>
            <a:ext cx="96469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 evidence · preserve audit trail · escalate uncertainty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EDITABLE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Illustrative Monthly 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22960" y="1783080"/>
          <a:ext cx="67665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882127" y="1874519"/>
            <a:ext cx="3419856" cy="3822191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2148840"/>
            <a:ext cx="27889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REVIEW 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670048"/>
            <a:ext cx="2788920" cy="2423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What drives gross margin?
•  Which expenses are unusual?
•  Does profit convert to cash?
•  Which action changes the trend?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EDITABLE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Illustrative AR Ageing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22960" y="1783080"/>
          <a:ext cx="67665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882127" y="1874519"/>
            <a:ext cx="3419856" cy="3822191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2148840"/>
            <a:ext cx="27889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F59E0B"/>
                </a:solidFill>
                <a:latin typeface="Arial"/>
              </a:rPr>
              <a:t>READ THE SHAPE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670048"/>
            <a:ext cx="2788920" cy="2423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Focus on material overdue balances
•  Separate dispute from collection risk
•  Assign owner and next action
•  Reconcile total to AR control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ACTIVITY 09 · ADVANCED · A4 ·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and Interpret the SME Reporting Pack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662940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993392"/>
            <a:ext cx="60807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BUSINESS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468880"/>
            <a:ext cx="6080760" cy="8046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Generate, validate and interpret core financial and ageing reports.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773936"/>
            <a:ext cx="3675887" cy="1874519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1993392"/>
            <a:ext cx="312724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450592"/>
            <a:ext cx="3127248" cy="8778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P&amp;L, Balance Sheet, AR/AP ageing and management action summary.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4105656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Report parameters are consistent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36792" y="4105656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Balance Sheet equation holds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4" y="5065776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Control accounts reconcile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36792" y="5065776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2008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Insights link to evidence and actions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971032"/>
            <a:ext cx="10515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Detailed procedure and evidence workbook: activities/activity-09-financial-reporting-pack/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ACTIVITY 10 · ADVANCED · A1 · A2 · A3 · A4 · K1–K5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Capstone: Complete the Month-End Close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662940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993392"/>
            <a:ext cx="60807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BUSINESS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468880"/>
            <a:ext cx="6080760" cy="8046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Complete a controlled month-end close for Orchid Bay Trading Pte Ltd and present a decision-ready management brief.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773936"/>
            <a:ext cx="3675887" cy="1874519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1993392"/>
            <a:ext cx="312724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450592"/>
            <a:ext cx="3127248" cy="8778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Closed-period checklist, reconciliations, GST review, reporting pack and management brief.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4105656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All five control accounts reconcile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95020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36792" y="4105656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410565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404164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Seeded anomalies are found and resolved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4" y="5065776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GST and reporting packs are supported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910328"/>
            <a:ext cx="5120640" cy="7498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36792" y="5065776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50657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2008" y="5001768"/>
            <a:ext cx="411480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Management brief contains evidence-backed actions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971032"/>
            <a:ext cx="10515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Detailed procedure and evidence workbook: activities/activity-10-month-end-capstone/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4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Profit and Loss explains performance over a period; Balance Sheet explains position at a date.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Cash flow, profit and working capital answer different management questions.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AR/AP ageing turns overdue balances into collection and payment priorities.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Report accuracy depends on reconciled source data, correct basis, period, filters and review evidence.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COURSE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LO1: Configure and import relevant data to the QuickBooks accounting system.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LO2: Input and control day-to-day sales, purchasing, banking and inventory data in QuickBooks.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LO3: Compute and review GST for expenses and invoices using appropriate Singapore tax codes.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LO4: Generate and interpret financial, accounting, ageing and GST reports for SME decisions.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DOWNLOAD · COMPLETE ·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Courseware and Assessment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874519"/>
            <a:ext cx="4937760" cy="15727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103120"/>
            <a:ext cx="4425696" cy="10058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Download the learner slides and Learner Guide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874519"/>
            <a:ext cx="4937760" cy="15727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2103120"/>
            <a:ext cx="4425696" cy="10058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Open each activity folder and workbook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931920"/>
            <a:ext cx="4937760" cy="15727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160520"/>
            <a:ext cx="4425696" cy="10058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Complete the assessment in the scheduled window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931920"/>
            <a:ext cx="4937760" cy="15727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4160520"/>
            <a:ext cx="4425696" cy="10058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Upload answers and retain submission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5815584"/>
            <a:ext cx="42519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  <a:hlinkClick r:id="rId2"/>
              </a:rPr>
              <a:t>https://lms-tms.tertiaryinfotech.com/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FINAL REMINDER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73936"/>
            <a:ext cx="512064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3591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WA (SAQ): 60 minutes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14223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OQ: current paper 25 minutes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73936"/>
            <a:ext cx="5120640" cy="42245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773936"/>
            <a:ext cx="512064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35915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14884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Individual and open book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14223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42232"/>
            <a:ext cx="530352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931920"/>
            <a:ext cx="3767328" cy="10789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Take assessment digital attendance and submit as instructed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MANDATORY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1716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171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TRAQOM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113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59E0B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9316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93161" y="2057400"/>
            <a:ext cx="201533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71646" y="2450592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7164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288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Assessment attendance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1067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59E0B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3091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3091" y="2057400"/>
            <a:ext cx="201533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51576" y="245059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51576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2819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WA then OQ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099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59E0B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5302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53020" y="2057400"/>
            <a:ext cx="201533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31505" y="245059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3150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274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Submit on LMS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40926" y="3355848"/>
            <a:ext cx="2377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59E0B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32950" y="2057400"/>
            <a:ext cx="2015337" cy="3063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32950" y="2057400"/>
            <a:ext cx="201533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11435" y="245059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11435" y="2450592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42678" y="3364992"/>
            <a:ext cx="1795881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0">
                <a:solidFill>
                  <a:srgbClr val="161B26"/>
                </a:solidFill>
                <a:latin typeface="Arial"/>
              </a:rPr>
              <a:t>Sign summary record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TRAQOM ·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82296" cy="19019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313432"/>
            <a:ext cx="621792" cy="6217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Take assessment digital attendance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1907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19072"/>
            <a:ext cx="82296" cy="1901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31343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1343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Scan the SSG/TRAQOM QR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959352"/>
            <a:ext cx="82296" cy="19019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455371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Submit before leaving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59352"/>
            <a:ext cx="5120640" cy="19019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59352"/>
            <a:ext cx="82296" cy="19019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621792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142232"/>
            <a:ext cx="3776472" cy="1508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Confirm with the trainer if uncertain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6984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QUICKBOOKS FOR SMES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7442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35056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428232"/>
            <a:ext cx="4937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Quickbooks Accounting System for Small and Medium Enterprises · TGS-2020505113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28232"/>
            <a:ext cx="3840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47548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1965960"/>
            <a:ext cx="10533888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" y="1965960"/>
            <a:ext cx="109728" cy="2971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404872"/>
            <a:ext cx="9646920" cy="18288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Use clean data, sound controls and reconciled reports to make better SME decisions.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230368"/>
            <a:ext cx="96469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 evidence · preserve audit trail · escalate uncertainty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5669280"/>
            <a:ext cx="49377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5B6372"/>
                </a:solidFill>
                <a:latin typeface="Arial"/>
                <a:hlinkClick r:id="rId2"/>
              </a:rPr>
              <a:t>enquiry@tertiaryinfotech.com · tertiarycourses.com.sg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Quickbooks Accounting System for Small and Medium Enterprises</dc:title>
  <dc:subject>WSQ TGS-2020505113 course slides</dc:subject>
  <dc:creator>Tertiary Infotech Academy Pte Ltd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